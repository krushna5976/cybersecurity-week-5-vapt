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24F"/>
                </a:solidFill>
                <a:latin typeface="Aptos Display"/>
              </a:defRPr>
            </a:pPr>
            <a:r>
              <a:t>WEEK 5 — VAPT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3774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56D85"/>
                </a:solidFill>
                <a:latin typeface="Aptos"/>
              </a:defRPr>
            </a:pPr>
            <a:r>
              <a:t>Vulnerability Assessment &amp; Penetration Testing</a:t>
            </a:r>
            <a:br/>
            <a:r>
              <a:t>Practical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DG Interns Hub — Cyber Security Internship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Tools: Nmap • Nikto • Burp Suite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Platform: Linux Mint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Authorized target: testasp.vulnweb.com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Assessment date: 7 October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1. Objective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Learn the basic VAPT workflow through practical security testing.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Use Nmap to discover ports and identify services.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Use Nikto to check common web-server security issues.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Use Burp Suite to inspect HTTP requests, headers, cookies and responses.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Document evidence and distinguish security observations from confirmed exploitation.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800600" cy="4251960"/>
          </a:xfrm>
          <a:prstGeom prst="roundRect">
            <a:avLst/>
          </a:prstGeom>
          <a:solidFill>
            <a:srgbClr val="F3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737360"/>
            <a:ext cx="4160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1">
                <a:solidFill>
                  <a:srgbClr val="16324F"/>
                </a:solidFill>
              </a:defRPr>
            </a:pPr>
            <a:r>
              <a:t>1   Discover</a:t>
            </a:r>
          </a:p>
          <a:p>
            <a:pPr>
              <a:spcAft>
                <a:spcPts val="1500"/>
              </a:spcAft>
              <a:defRPr sz="2100" b="1">
                <a:solidFill>
                  <a:srgbClr val="16324F"/>
                </a:solidFill>
              </a:defRPr>
            </a:pPr>
            <a:r>
              <a:t>2   Enumerate</a:t>
            </a:r>
          </a:p>
          <a:p>
            <a:pPr>
              <a:spcAft>
                <a:spcPts val="1500"/>
              </a:spcAft>
              <a:defRPr sz="2100" b="1">
                <a:solidFill>
                  <a:srgbClr val="16324F"/>
                </a:solidFill>
              </a:defRPr>
            </a:pPr>
            <a:r>
              <a:t>3   Inspect</a:t>
            </a:r>
          </a:p>
          <a:p>
            <a:pPr>
              <a:spcAft>
                <a:spcPts val="1500"/>
              </a:spcAft>
              <a:defRPr sz="2100" b="1">
                <a:solidFill>
                  <a:srgbClr val="16324F"/>
                </a:solidFill>
              </a:defRPr>
            </a:pPr>
            <a:r>
              <a:t>4   Correlate</a:t>
            </a:r>
          </a:p>
          <a:p>
            <a:pPr>
              <a:spcAft>
                <a:spcPts val="1500"/>
              </a:spcAft>
              <a:defRPr sz="2100" b="1">
                <a:solidFill>
                  <a:srgbClr val="16324F"/>
                </a:solidFill>
              </a:defRPr>
            </a:pPr>
            <a:r>
              <a:t>5   Document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2. Nmap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Discovery → service identification → comprehensive enumeration</a:t>
            </a:r>
          </a:p>
        </p:txBody>
      </p:sp>
      <p:pic>
        <p:nvPicPr>
          <p:cNvPr id="6" name="Picture 5" descr="Screenshot from 2026-10-07 06-13-3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1041"/>
            <a:ext cx="5394960" cy="1672917"/>
          </a:xfrm>
          <a:prstGeom prst="rect">
            <a:avLst/>
          </a:prstGeom>
        </p:spPr>
      </p:pic>
      <p:pic>
        <p:nvPicPr>
          <p:cNvPr id="7" name="Picture 6" descr="Screenshot from 2026-10-07 06-23-18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86791"/>
            <a:ext cx="5394960" cy="15414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5262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3"/>
                </a:solidFill>
                <a:latin typeface="Aptos"/>
              </a:defRPr>
            </a:pPr>
            <a:r>
              <a:t>SYN scan: 80/tcp open; 999 filtered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452628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3"/>
                </a:solidFill>
                <a:latin typeface="Aptos"/>
              </a:defRPr>
            </a:pPr>
            <a:r>
              <a:t>Service detection: Microsoft IIS 8.5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Target resolved to 44.238.29.244 and was reachable.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TCP port 80 was open and identified as HTTP.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Nmap service detection identified Microsoft IIS httpd 8.5.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The basic scan did not establish that the open service was vulnerable.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3. Nmap -A: Additional Observations</a:t>
            </a:r>
          </a:p>
        </p:txBody>
      </p:sp>
      <p:pic>
        <p:nvPicPr>
          <p:cNvPr id="5" name="Picture 4" descr="Screenshot from 2026-10-07 06-26-26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3270"/>
            <a:ext cx="5486400" cy="2442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417320"/>
            <a:ext cx="4983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Application title: acuforum forums.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ASP session cookie reported without the HttpOnly flag.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TRACE was listed as a potentially risky HTTP method.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Traceroute completed in 5 hops.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Final OS fingerprinting was inconclusive — no definitive OS claim is made.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5257800"/>
            <a:ext cx="4800600" cy="658368"/>
          </a:xfrm>
          <a:prstGeom prst="roundRect">
            <a:avLst/>
          </a:prstGeom>
          <a:solidFill>
            <a:srgbClr val="F3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5385816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324F"/>
                </a:solidFill>
              </a:defRPr>
            </a:pPr>
            <a:r>
              <a:t>Observation ≠ proof of exploitation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4. Nikto Web-Server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Automated checks against the authorized VulnWeb target</a:t>
            </a:r>
          </a:p>
        </p:txBody>
      </p:sp>
      <p:pic>
        <p:nvPicPr>
          <p:cNvPr id="6" name="Picture 5" descr="Nikto 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94172"/>
            <a:ext cx="6400800" cy="2772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325880"/>
            <a:ext cx="43434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Microsoft-IIS/8.5 detected.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ASP session cookie created without the HttpOnly flag.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X-Frame-Options header not present.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ETag header exposes inode-related information.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Allowed methods included OPTIONS, TRACE, GET, HEAD and POST.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Login page found at /login.asp.</a:t>
            </a:r>
          </a:p>
          <a:p>
            <a:pPr>
              <a:spcAft>
                <a:spcPts val="9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6,544 items checked; 9 items reported.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5. Burp Suite — HTTP Inspection</a:t>
            </a:r>
          </a:p>
        </p:txBody>
      </p:sp>
      <p:pic>
        <p:nvPicPr>
          <p:cNvPr id="5" name="Picture 4" descr="Screenshot from 2026-10-07 06-57-1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79" y="1234440"/>
            <a:ext cx="4117721" cy="2240280"/>
          </a:xfrm>
          <a:prstGeom prst="rect">
            <a:avLst/>
          </a:prstGeom>
        </p:spPr>
      </p:pic>
      <p:pic>
        <p:nvPicPr>
          <p:cNvPr id="6" name="Picture 5" descr="Screenshot from 2026-10-07 06-58-3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536" y="1234440"/>
            <a:ext cx="4108287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493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3"/>
                </a:solidFill>
                <a:latin typeface="Aptos"/>
              </a:defRPr>
            </a:pPr>
            <a:r>
              <a:t>Captured GET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493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3"/>
                </a:solidFill>
                <a:latin typeface="Aptos"/>
              </a:defRPr>
            </a:pPr>
            <a:r>
              <a:t>Captured GET /showforum.asp?id=1</a:t>
            </a:r>
          </a:p>
        </p:txBody>
      </p:sp>
      <p:pic>
        <p:nvPicPr>
          <p:cNvPr id="9" name="Picture 8" descr="Screenshot from 2026-10-07 06-59-55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958" y="3886200"/>
            <a:ext cx="3239762" cy="1965960"/>
          </a:xfrm>
          <a:prstGeom prst="rect">
            <a:avLst/>
          </a:prstGeom>
        </p:spPr>
      </p:pic>
      <p:pic>
        <p:nvPicPr>
          <p:cNvPr id="10" name="Picture 9" descr="Screenshot from 2026-10-07 06-59-29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980" y="3886200"/>
            <a:ext cx="3183398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592531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ptos"/>
              </a:defRPr>
            </a:pPr>
            <a:r>
              <a:t>HTTP 200 response • IIS/ASP.NET • session cookie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92531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  <a:latin typeface="Aptos"/>
              </a:defRPr>
            </a:pPr>
            <a:r>
              <a:t>HTTP 200 response • application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6. Findings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ASP session cookie lacks HttpOnly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307592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Set HttpOnly; review Secure/SameSite.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29968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X-Frame-Options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103120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Use an appropriate anti-framing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25496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16936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8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TRACE enabled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98648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Disable if not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21024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12464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94176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Server/technology disclosure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694176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Minimize unnecessary version disclosure.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16552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89704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ETag inode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489704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Review ETag configuration.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80"/>
            <a:ext cx="10972800" cy="694944"/>
          </a:xfrm>
          <a:prstGeom prst="roundRect">
            <a:avLst/>
          </a:prstGeom>
          <a:solidFill>
            <a:srgbClr val="F3F7FA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D85"/>
                </a:solidFill>
              </a:defRPr>
            </a:pPr>
            <a:r>
              <a:t>F-06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285232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324F"/>
                </a:solidFill>
              </a:defRPr>
            </a:pPr>
            <a:r>
              <a:t>Login page exposed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285232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Review authentication, authorization and rate limiting.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24F"/>
                </a:solidFill>
                <a:latin typeface="Aptos Display"/>
              </a:defRPr>
            </a:pPr>
            <a: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The Week 5 VAPT practical workflow was completed on an authorized VulnWeb training target.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Nmap identified the exposed service and technology stack.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Nikto provided automated web-server security observations.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Burp Suite correlated those observations with real HTTP requests and responses.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The exercise reinforced that automated findings are evidence/leads and should be validated before being described as exploitable vulnerabilities.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440680"/>
            <a:ext cx="10149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595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</a:defRPr>
            </a:pPr>
            <a:r>
              <a:t>Practical status: Nmap ✓   Nikto ✓   Burp Suite ✓   Evidence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DG Interns Hub • Week 5 Cyber Security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